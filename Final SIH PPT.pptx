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rimo" panose="020B0604020202020204" charset="0"/>
      <p:regular r:id="rId9"/>
    </p:embeddedFont>
    <p:embeddedFont>
      <p:font typeface="Arimo Bold" panose="020B0604020202020204" charset="0"/>
      <p:regular r:id="rId10"/>
    </p:embeddedFont>
    <p:embeddedFont>
      <p:font typeface="Bodoni MT" panose="02070603080606020203" pitchFamily="18" charset="0"/>
      <p:regular r:id="rId11"/>
      <p:bold r:id="rId12"/>
      <p:italic r:id="rId13"/>
      <p:boldItalic r:id="rId14"/>
    </p:embeddedFont>
    <p:embeddedFont>
      <p:font typeface="Calibri (MS)" panose="020B0604020202020204" charset="0"/>
      <p:regular r:id="rId15"/>
    </p:embeddedFont>
    <p:embeddedFont>
      <p:font typeface="Garamond Bold" panose="02020804030307010803" pitchFamily="18" charset="0"/>
      <p:regular r:id="rId16"/>
      <p:bold r:id="rId17"/>
    </p:embeddedFont>
    <p:embeddedFont>
      <p:font typeface="Times New Roman Bold" panose="02020803070505020304" pitchFamily="18" charset="0"/>
      <p:regular r:id="rId18"/>
      <p:bold r:id="rId19"/>
    </p:embeddedFont>
    <p:embeddedFont>
      <p:font typeface="Times New Roman Italics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146CFE-7BC9-44B6-AE31-414FF5EFB4E8}" v="11" dt="2026-08-29T21:05:17.7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5033" autoAdjust="0"/>
  </p:normalViewPr>
  <p:slideViewPr>
    <p:cSldViewPr>
      <p:cViewPr varScale="1">
        <p:scale>
          <a:sx n="52" d="100"/>
          <a:sy n="52" d="100"/>
        </p:scale>
        <p:origin x="85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theme" Target="theme/theme1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 AZHAN SARFARAZ" userId="0c0575626001b056" providerId="LiveId" clId="{05927B8A-9721-4A25-9470-F0F8D235510B}"/>
    <pc:docChg chg="undo custSel modSld">
      <pc:chgData name="MD AZHAN SARFARAZ" userId="0c0575626001b056" providerId="LiveId" clId="{05927B8A-9721-4A25-9470-F0F8D235510B}" dt="2026-08-30T09:44:20.248" v="55" actId="1076"/>
      <pc:docMkLst>
        <pc:docMk/>
      </pc:docMkLst>
      <pc:sldChg chg="modSp mod">
        <pc:chgData name="MD AZHAN SARFARAZ" userId="0c0575626001b056" providerId="LiveId" clId="{05927B8A-9721-4A25-9470-F0F8D235510B}" dt="2026-08-30T09:44:20.248" v="55" actId="1076"/>
        <pc:sldMkLst>
          <pc:docMk/>
          <pc:sldMk cId="0" sldId="258"/>
        </pc:sldMkLst>
        <pc:spChg chg="mod">
          <ac:chgData name="MD AZHAN SARFARAZ" userId="0c0575626001b056" providerId="LiveId" clId="{05927B8A-9721-4A25-9470-F0F8D235510B}" dt="2026-08-30T09:44:20.248" v="55" actId="1076"/>
          <ac:spMkLst>
            <pc:docMk/>
            <pc:sldMk cId="0" sldId="258"/>
            <ac:spMk id="16" creationId="{F61477DE-F987-BBB0-542C-07AA04160048}"/>
          </ac:spMkLst>
        </pc:spChg>
        <pc:spChg chg="mod">
          <ac:chgData name="MD AZHAN SARFARAZ" userId="0c0575626001b056" providerId="LiveId" clId="{05927B8A-9721-4A25-9470-F0F8D235510B}" dt="2026-08-30T09:44:09.440" v="53" actId="1076"/>
          <ac:spMkLst>
            <pc:docMk/>
            <pc:sldMk cId="0" sldId="258"/>
            <ac:spMk id="17" creationId="{BD9F92FE-7268-D9AA-580E-F4907301EF84}"/>
          </ac:spMkLst>
        </pc:spChg>
        <pc:spChg chg="mod">
          <ac:chgData name="MD AZHAN SARFARAZ" userId="0c0575626001b056" providerId="LiveId" clId="{05927B8A-9721-4A25-9470-F0F8D235510B}" dt="2026-08-30T09:43:59.130" v="51" actId="1076"/>
          <ac:spMkLst>
            <pc:docMk/>
            <pc:sldMk cId="0" sldId="258"/>
            <ac:spMk id="18" creationId="{C3908EC1-2CED-7200-49C6-79B93D66D8F7}"/>
          </ac:spMkLst>
        </pc:spChg>
        <pc:spChg chg="mod">
          <ac:chgData name="MD AZHAN SARFARAZ" userId="0c0575626001b056" providerId="LiveId" clId="{05927B8A-9721-4A25-9470-F0F8D235510B}" dt="2026-08-30T09:43:09.328" v="42" actId="1076"/>
          <ac:spMkLst>
            <pc:docMk/>
            <pc:sldMk cId="0" sldId="258"/>
            <ac:spMk id="19" creationId="{381FAFEE-D57B-1C38-1E4B-7DB656F8488C}"/>
          </ac:spMkLst>
        </pc:spChg>
        <pc:spChg chg="mod">
          <ac:chgData name="MD AZHAN SARFARAZ" userId="0c0575626001b056" providerId="LiveId" clId="{05927B8A-9721-4A25-9470-F0F8D235510B}" dt="2026-08-30T09:42:11.167" v="37" actId="122"/>
          <ac:spMkLst>
            <pc:docMk/>
            <pc:sldMk cId="0" sldId="258"/>
            <ac:spMk id="20" creationId="{3BF8FE16-128D-968C-EDB1-888E0AC12BEC}"/>
          </ac:spMkLst>
        </pc:spChg>
        <pc:spChg chg="mod">
          <ac:chgData name="MD AZHAN SARFARAZ" userId="0c0575626001b056" providerId="LiveId" clId="{05927B8A-9721-4A25-9470-F0F8D235510B}" dt="2026-08-30T09:42:51.096" v="38" actId="122"/>
          <ac:spMkLst>
            <pc:docMk/>
            <pc:sldMk cId="0" sldId="258"/>
            <ac:spMk id="21" creationId="{4769358C-C108-8492-3C43-4A5201373D43}"/>
          </ac:spMkLst>
        </pc:spChg>
        <pc:spChg chg="mod">
          <ac:chgData name="MD AZHAN SARFARAZ" userId="0c0575626001b056" providerId="LiveId" clId="{05927B8A-9721-4A25-9470-F0F8D235510B}" dt="2026-08-30T09:42:53.884" v="39" actId="122"/>
          <ac:spMkLst>
            <pc:docMk/>
            <pc:sldMk cId="0" sldId="258"/>
            <ac:spMk id="22" creationId="{0FAB9050-F730-EC58-3825-8718F25ECC5D}"/>
          </ac:spMkLst>
        </pc:spChg>
        <pc:spChg chg="mod">
          <ac:chgData name="MD AZHAN SARFARAZ" userId="0c0575626001b056" providerId="LiveId" clId="{05927B8A-9721-4A25-9470-F0F8D235510B}" dt="2026-08-30T09:41:12.806" v="24" actId="122"/>
          <ac:spMkLst>
            <pc:docMk/>
            <pc:sldMk cId="0" sldId="258"/>
            <ac:spMk id="23" creationId="{6F50B655-767A-A711-FFED-93A808CB79CD}"/>
          </ac:spMkLst>
        </pc:spChg>
        <pc:spChg chg="mod">
          <ac:chgData name="MD AZHAN SARFARAZ" userId="0c0575626001b056" providerId="LiveId" clId="{05927B8A-9721-4A25-9470-F0F8D235510B}" dt="2026-08-30T09:41:16.828" v="25" actId="122"/>
          <ac:spMkLst>
            <pc:docMk/>
            <pc:sldMk cId="0" sldId="258"/>
            <ac:spMk id="25" creationId="{741CFA25-1381-6952-B740-16369E7154F3}"/>
          </ac:spMkLst>
        </pc:spChg>
        <pc:spChg chg="mod">
          <ac:chgData name="MD AZHAN SARFARAZ" userId="0c0575626001b056" providerId="LiveId" clId="{05927B8A-9721-4A25-9470-F0F8D235510B}" dt="2026-08-30T09:41:20.793" v="26" actId="122"/>
          <ac:spMkLst>
            <pc:docMk/>
            <pc:sldMk cId="0" sldId="258"/>
            <ac:spMk id="26" creationId="{E41388BD-AF3F-2B2F-7361-217FA9ACDB1C}"/>
          </ac:spMkLst>
        </pc:spChg>
        <pc:spChg chg="mod">
          <ac:chgData name="MD AZHAN SARFARAZ" userId="0c0575626001b056" providerId="LiveId" clId="{05927B8A-9721-4A25-9470-F0F8D235510B}" dt="2026-08-30T09:41:29.635" v="28" actId="14100"/>
          <ac:spMkLst>
            <pc:docMk/>
            <pc:sldMk cId="0" sldId="258"/>
            <ac:spMk id="27" creationId="{5AAD983A-C780-1879-CAFC-DF707E930DC3}"/>
          </ac:spMkLst>
        </pc:spChg>
        <pc:spChg chg="mod">
          <ac:chgData name="MD AZHAN SARFARAZ" userId="0c0575626001b056" providerId="LiveId" clId="{05927B8A-9721-4A25-9470-F0F8D235510B}" dt="2026-08-30T09:41:36.273" v="30" actId="14100"/>
          <ac:spMkLst>
            <pc:docMk/>
            <pc:sldMk cId="0" sldId="258"/>
            <ac:spMk id="28" creationId="{4381DDEA-82E4-CA36-61EA-5D86F1E79262}"/>
          </ac:spMkLst>
        </pc:spChg>
        <pc:spChg chg="mod">
          <ac:chgData name="MD AZHAN SARFARAZ" userId="0c0575626001b056" providerId="LiveId" clId="{05927B8A-9721-4A25-9470-F0F8D235510B}" dt="2026-08-30T09:41:42.532" v="31" actId="122"/>
          <ac:spMkLst>
            <pc:docMk/>
            <pc:sldMk cId="0" sldId="258"/>
            <ac:spMk id="29" creationId="{BE4FBC01-2FD2-1908-5E73-63BCC4559562}"/>
          </ac:spMkLst>
        </pc:spChg>
        <pc:spChg chg="mod">
          <ac:chgData name="MD AZHAN SARFARAZ" userId="0c0575626001b056" providerId="LiveId" clId="{05927B8A-9721-4A25-9470-F0F8D235510B}" dt="2026-08-30T09:41:54.987" v="35" actId="1076"/>
          <ac:spMkLst>
            <pc:docMk/>
            <pc:sldMk cId="0" sldId="258"/>
            <ac:spMk id="30" creationId="{72BE9C09-E375-41C2-B026-9A4C10AA0484}"/>
          </ac:spMkLst>
        </pc:spChg>
        <pc:spChg chg="mod">
          <ac:chgData name="MD AZHAN SARFARAZ" userId="0c0575626001b056" providerId="LiveId" clId="{05927B8A-9721-4A25-9470-F0F8D235510B}" dt="2026-08-30T09:41:50.886" v="34" actId="1076"/>
          <ac:spMkLst>
            <pc:docMk/>
            <pc:sldMk cId="0" sldId="258"/>
            <ac:spMk id="31" creationId="{B0EBE096-570D-765A-13F8-BE5CE82F78CB}"/>
          </ac:spMkLst>
        </pc:spChg>
        <pc:spChg chg="mod">
          <ac:chgData name="MD AZHAN SARFARAZ" userId="0c0575626001b056" providerId="LiveId" clId="{05927B8A-9721-4A25-9470-F0F8D235510B}" dt="2026-08-30T09:44:15.095" v="54" actId="1076"/>
          <ac:spMkLst>
            <pc:docMk/>
            <pc:sldMk cId="0" sldId="258"/>
            <ac:spMk id="32" creationId="{F77521C2-BB27-188D-A5C2-1FF1CB43FCA9}"/>
          </ac:spMkLst>
        </pc:spChg>
        <pc:spChg chg="mod">
          <ac:chgData name="MD AZHAN SARFARAZ" userId="0c0575626001b056" providerId="LiveId" clId="{05927B8A-9721-4A25-9470-F0F8D235510B}" dt="2026-08-30T09:44:04.778" v="52" actId="1076"/>
          <ac:spMkLst>
            <pc:docMk/>
            <pc:sldMk cId="0" sldId="258"/>
            <ac:spMk id="33" creationId="{78BBEBD0-3C49-008C-DD53-DDD5F13E0E22}"/>
          </ac:spMkLst>
        </pc:spChg>
        <pc:spChg chg="mod">
          <ac:chgData name="MD AZHAN SARFARAZ" userId="0c0575626001b056" providerId="LiveId" clId="{05927B8A-9721-4A25-9470-F0F8D235510B}" dt="2026-08-30T09:43:52.520" v="50" actId="1076"/>
          <ac:spMkLst>
            <pc:docMk/>
            <pc:sldMk cId="0" sldId="258"/>
            <ac:spMk id="35" creationId="{B1C01D57-F5AB-8C56-1E50-65A71C5C7868}"/>
          </ac:spMkLst>
        </pc:spChg>
        <pc:picChg chg="mod">
          <ac:chgData name="MD AZHAN SARFARAZ" userId="0c0575626001b056" providerId="LiveId" clId="{05927B8A-9721-4A25-9470-F0F8D235510B}" dt="2026-08-30T09:39:43.866" v="0" actId="14100"/>
          <ac:picMkLst>
            <pc:docMk/>
            <pc:sldMk cId="0" sldId="258"/>
            <ac:picMk id="15" creationId="{5B5DA887-5F21-B164-0ECA-E098AB9D8C2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30.08.2026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85165" y="1277283"/>
            <a:ext cx="6957908" cy="7732452"/>
          </a:xfrm>
          <a:custGeom>
            <a:avLst/>
            <a:gdLst/>
            <a:ahLst/>
            <a:cxnLst/>
            <a:rect l="l" t="t" r="r" b="b"/>
            <a:pathLst>
              <a:path w="6957908" h="7732452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0205614" y="3076518"/>
            <a:ext cx="4805267" cy="5139357"/>
            <a:chOff x="0" y="0"/>
            <a:chExt cx="6407023" cy="68524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7023" cy="6852412"/>
            </a:xfrm>
            <a:custGeom>
              <a:avLst/>
              <a:gdLst/>
              <a:ahLst/>
              <a:cxnLst/>
              <a:rect l="l" t="t" r="r" b="b"/>
              <a:pathLst>
                <a:path w="6407023" h="6852412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49475" b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959969" y="592247"/>
            <a:ext cx="12618720" cy="2566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endParaRPr dirty="0"/>
          </a:p>
          <a:p>
            <a:pPr algn="ctr">
              <a:lnSpc>
                <a:spcPts val="5759"/>
              </a:lnSpc>
            </a:pPr>
            <a:r>
              <a:rPr lang="en-US" sz="48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496929" y="-1269528"/>
            <a:ext cx="15544800" cy="3552186"/>
            <a:chOff x="0" y="-583348"/>
            <a:chExt cx="20726400" cy="4736248"/>
          </a:xfrm>
        </p:grpSpPr>
        <p:sp>
          <p:nvSpPr>
            <p:cNvPr id="7" name="Freeform 7"/>
            <p:cNvSpPr/>
            <p:nvPr/>
          </p:nvSpPr>
          <p:spPr>
            <a:xfrm>
              <a:off x="0" y="-583348"/>
              <a:ext cx="20726400" cy="4152900"/>
            </a:xfrm>
            <a:custGeom>
              <a:avLst/>
              <a:gdLst/>
              <a:ahLst/>
              <a:cxnLst/>
              <a:rect l="l" t="t" r="r" b="b"/>
              <a:pathLst>
                <a:path w="20726400" h="41529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246" b="-4724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 dirty="0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D3B8991C-4B20-4107-1B0D-8A5395317568}"/>
              </a:ext>
            </a:extLst>
          </p:cNvPr>
          <p:cNvSpPr txBox="1"/>
          <p:nvPr/>
        </p:nvSpPr>
        <p:spPr>
          <a:xfrm>
            <a:off x="154029" y="1906712"/>
            <a:ext cx="11504571" cy="809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b="1" dirty="0">
                <a:latin typeface="Garamond Bold" panose="02020804030307010803" pitchFamily="18" charset="0"/>
              </a:rPr>
              <a:t>Problem</a:t>
            </a:r>
            <a:r>
              <a:rPr lang="en-IN" sz="4000" b="1" dirty="0">
                <a:latin typeface="Bodoni MT" panose="02070603080606020203" pitchFamily="18" charset="0"/>
              </a:rPr>
              <a:t> Statement ID</a:t>
            </a:r>
            <a:r>
              <a:rPr lang="en-IN" sz="4000" b="1" dirty="0"/>
              <a:t>:</a:t>
            </a:r>
            <a:r>
              <a:rPr lang="en-IN" sz="4000" dirty="0"/>
              <a:t> SIH26130</a:t>
            </a:r>
          </a:p>
          <a:p>
            <a:endParaRPr lang="en-IN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b="1" dirty="0">
                <a:latin typeface="Garamond Bold" panose="02020804030307010803" pitchFamily="18" charset="0"/>
              </a:rPr>
              <a:t>Problem</a:t>
            </a:r>
            <a:r>
              <a:rPr lang="en-IN" sz="4000" b="1" dirty="0"/>
              <a:t> Statement Title:</a:t>
            </a:r>
            <a:r>
              <a:rPr lang="en-IN" sz="4000" dirty="0"/>
              <a:t> Efficiency in Streamlining Industrial Approvals, Compliance Processes, and Access to Government Support Services</a:t>
            </a:r>
          </a:p>
          <a:p>
            <a:endParaRPr lang="en-IN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b="1" dirty="0">
                <a:latin typeface="Garamond Bold" panose="02020804030307010803" pitchFamily="18" charset="0"/>
              </a:rPr>
              <a:t>Theme</a:t>
            </a:r>
            <a:r>
              <a:rPr lang="en-IN" sz="4000" b="1" dirty="0"/>
              <a:t>:</a:t>
            </a:r>
            <a:r>
              <a:rPr lang="en-IN" sz="4000" dirty="0"/>
              <a:t> Miscellaneous</a:t>
            </a:r>
          </a:p>
          <a:p>
            <a:endParaRPr lang="en-IN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b="1" dirty="0"/>
              <a:t>PS </a:t>
            </a:r>
            <a:r>
              <a:rPr lang="en-IN" sz="4000" b="1" dirty="0">
                <a:latin typeface="Garamond Bold" panose="02020804030307010803" pitchFamily="18" charset="0"/>
              </a:rPr>
              <a:t>Category</a:t>
            </a:r>
            <a:r>
              <a:rPr lang="en-IN" sz="4000" b="1" dirty="0"/>
              <a:t>:</a:t>
            </a:r>
            <a:r>
              <a:rPr lang="en-IN" sz="4000" dirty="0"/>
              <a:t> Software</a:t>
            </a:r>
          </a:p>
          <a:p>
            <a:endParaRPr lang="en-IN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b="1" dirty="0">
                <a:latin typeface="Garamond Bold" panose="02020804030307010803" pitchFamily="18" charset="0"/>
              </a:rPr>
              <a:t>Team ID :</a:t>
            </a:r>
          </a:p>
          <a:p>
            <a:endParaRPr lang="en-IN" sz="4000" b="1" dirty="0">
              <a:latin typeface="Garamond Bold" panose="02020804030307010803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b="1" dirty="0">
                <a:latin typeface="Garamond Bold" panose="02020804030307010803" pitchFamily="18" charset="0"/>
              </a:rPr>
              <a:t>Team Name </a:t>
            </a:r>
            <a:r>
              <a:rPr lang="en-IN" sz="4000" b="1" dirty="0"/>
              <a:t>: </a:t>
            </a:r>
            <a:r>
              <a:rPr lang="en-IN" sz="4000" dirty="0"/>
              <a:t>CodeXMinds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74501" y="0"/>
            <a:ext cx="16459200" cy="1714500"/>
            <a:chOff x="0" y="0"/>
            <a:chExt cx="21945600" cy="228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endParaRPr dirty="0"/>
            </a:p>
            <a:p>
              <a:pPr algn="ctr">
                <a:lnSpc>
                  <a:spcPts val="6480"/>
                </a:lnSpc>
              </a:pPr>
              <a:r>
                <a:rPr lang="en-US" sz="54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IDEA TITLE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12" name="Freeform 12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CodeXMinds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999A97A2-CC58-743B-C3A7-C292A7C726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206" y="1757363"/>
            <a:ext cx="15792450" cy="852963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6987077-751F-34B8-D17D-195BC218B335}"/>
              </a:ext>
            </a:extLst>
          </p:cNvPr>
          <p:cNvSpPr txBox="1"/>
          <p:nvPr/>
        </p:nvSpPr>
        <p:spPr>
          <a:xfrm>
            <a:off x="3505200" y="3390900"/>
            <a:ext cx="4191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Single platform for industrial approvals &amp; compliance.</a:t>
            </a:r>
            <a:endParaRPr lang="en-IN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1FCB6FF-75E3-F017-2354-A2A18D1A4095}"/>
              </a:ext>
            </a:extLst>
          </p:cNvPr>
          <p:cNvSpPr txBox="1"/>
          <p:nvPr/>
        </p:nvSpPr>
        <p:spPr>
          <a:xfrm>
            <a:off x="3505200" y="4669304"/>
            <a:ext cx="4191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Al assistant for rules, documents &amp; query support.</a:t>
            </a:r>
            <a:endParaRPr lang="en-IN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CF8B16-7F34-806D-BEA9-F9C1A69E67C6}"/>
              </a:ext>
            </a:extLst>
          </p:cNvPr>
          <p:cNvSpPr txBox="1"/>
          <p:nvPr/>
        </p:nvSpPr>
        <p:spPr>
          <a:xfrm>
            <a:off x="3505200" y="5919102"/>
            <a:ext cx="4191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Smart tracking of approvals, deadlines &amp; dependencies.</a:t>
            </a:r>
            <a:endParaRPr lang="en-IN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4BF8375-F090-9E85-0E8B-3994B94E4104}"/>
              </a:ext>
            </a:extLst>
          </p:cNvPr>
          <p:cNvSpPr txBox="1"/>
          <p:nvPr/>
        </p:nvSpPr>
        <p:spPr>
          <a:xfrm>
            <a:off x="3532909" y="7221751"/>
            <a:ext cx="4191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Ensures compliance &amp; faster decision making.</a:t>
            </a:r>
            <a:endParaRPr lang="en-IN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E5187E7-695F-2760-4387-771FEE53EFA0}"/>
              </a:ext>
            </a:extLst>
          </p:cNvPr>
          <p:cNvSpPr txBox="1"/>
          <p:nvPr/>
        </p:nvSpPr>
        <p:spPr>
          <a:xfrm>
            <a:off x="3491345" y="8500155"/>
            <a:ext cx="4191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Data-driven insights for better governance.</a:t>
            </a:r>
            <a:endParaRPr lang="en-IN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A73F013-7A26-C8ED-7424-EA0622E45003}"/>
              </a:ext>
            </a:extLst>
          </p:cNvPr>
          <p:cNvSpPr txBox="1"/>
          <p:nvPr/>
        </p:nvSpPr>
        <p:spPr>
          <a:xfrm>
            <a:off x="11353800" y="3363191"/>
            <a:ext cx="4191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Automated checklist for approvals &amp; compliance.</a:t>
            </a:r>
            <a:endParaRPr lang="en-IN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A7F45E8-E146-BF9F-2CA7-5A5D666B4DD9}"/>
              </a:ext>
            </a:extLst>
          </p:cNvPr>
          <p:cNvSpPr txBox="1"/>
          <p:nvPr/>
        </p:nvSpPr>
        <p:spPr>
          <a:xfrm>
            <a:off x="11329555" y="4665840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Smart document verification &amp; validation.</a:t>
            </a:r>
            <a:endParaRPr lang="en-IN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1422D01-895D-586D-B871-154E1175A611}"/>
              </a:ext>
            </a:extLst>
          </p:cNvPr>
          <p:cNvSpPr txBox="1"/>
          <p:nvPr/>
        </p:nvSpPr>
        <p:spPr>
          <a:xfrm>
            <a:off x="11315700" y="5850605"/>
            <a:ext cx="4191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Approval dependency mapper &amp; workflow.</a:t>
            </a:r>
            <a:endParaRPr lang="en-IN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5C75291-EBC1-1A3F-F51A-F985C10CFC4C}"/>
              </a:ext>
            </a:extLst>
          </p:cNvPr>
          <p:cNvSpPr txBox="1"/>
          <p:nvPr/>
        </p:nvSpPr>
        <p:spPr>
          <a:xfrm>
            <a:off x="11281064" y="7221750"/>
            <a:ext cx="4374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Real-time SLA tracking &amp; alerts.</a:t>
            </a:r>
            <a:endParaRPr lang="en-IN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D1D5919-5FBB-C244-0B35-085E3EA4D40D}"/>
              </a:ext>
            </a:extLst>
          </p:cNvPr>
          <p:cNvSpPr txBox="1"/>
          <p:nvPr/>
        </p:nvSpPr>
        <p:spPr>
          <a:xfrm>
            <a:off x="11388436" y="8603285"/>
            <a:ext cx="426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Unified dashboard with analytics &amp; reports.</a:t>
            </a:r>
            <a:endParaRPr lang="en-IN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43069" y="30726"/>
            <a:ext cx="1915887" cy="1249101"/>
            <a:chOff x="0" y="0"/>
            <a:chExt cx="2554516" cy="1665468"/>
          </a:xfrm>
        </p:grpSpPr>
        <p:sp>
          <p:nvSpPr>
            <p:cNvPr id="9" name="Freeform 9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CodeXMinds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5B5DA887-5F21-B164-0ECA-E098AB9D8C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87" y="1567436"/>
            <a:ext cx="18131914" cy="804862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61477DE-F987-BBB0-542C-07AA04160048}"/>
              </a:ext>
            </a:extLst>
          </p:cNvPr>
          <p:cNvSpPr txBox="1"/>
          <p:nvPr/>
        </p:nvSpPr>
        <p:spPr>
          <a:xfrm>
            <a:off x="550441" y="4436184"/>
            <a:ext cx="3124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* React.js for investor and              government dashboards with responsive,enterprise-grade UI.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9F92FE-7268-D9AA-580E-F4907301EF84}"/>
              </a:ext>
            </a:extLst>
          </p:cNvPr>
          <p:cNvSpPr txBox="1"/>
          <p:nvPr/>
        </p:nvSpPr>
        <p:spPr>
          <a:xfrm>
            <a:off x="546305" y="5937338"/>
            <a:ext cx="3124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* Tailwind CSS for modern and consistent interface.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908EC1-2CED-7200-49C6-79B93D66D8F7}"/>
              </a:ext>
            </a:extLst>
          </p:cNvPr>
          <p:cNvSpPr txBox="1"/>
          <p:nvPr/>
        </p:nvSpPr>
        <p:spPr>
          <a:xfrm>
            <a:off x="665837" y="6980168"/>
            <a:ext cx="2959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* React flow for approval dependency visualization.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1FAFEE-D57B-1C38-1E4B-7DB656F8488C}"/>
              </a:ext>
            </a:extLst>
          </p:cNvPr>
          <p:cNvSpPr txBox="1"/>
          <p:nvPr/>
        </p:nvSpPr>
        <p:spPr>
          <a:xfrm>
            <a:off x="578390" y="8039100"/>
            <a:ext cx="2959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* Recharts for government analytics and dashboard.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BF8FE16-128D-968C-EDB1-888E0AC12BEC}"/>
              </a:ext>
            </a:extLst>
          </p:cNvPr>
          <p:cNvSpPr txBox="1"/>
          <p:nvPr/>
        </p:nvSpPr>
        <p:spPr>
          <a:xfrm>
            <a:off x="4114800" y="4429232"/>
            <a:ext cx="3124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* Java and Spring Boot for                </a:t>
            </a:r>
          </a:p>
          <a:p>
            <a:pPr algn="ctr"/>
            <a:r>
              <a:rPr lang="en-IN" b="1" dirty="0"/>
              <a:t>    REST APIs,business logic </a:t>
            </a:r>
          </a:p>
          <a:p>
            <a:pPr algn="ctr"/>
            <a:r>
              <a:rPr lang="en-IN" b="1" dirty="0"/>
              <a:t>   ,authentication,and</a:t>
            </a:r>
          </a:p>
          <a:p>
            <a:pPr algn="ctr"/>
            <a:r>
              <a:rPr lang="en-IN" b="1" dirty="0"/>
              <a:t>   application workflow.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69358C-C108-8492-3C43-4A5201373D43}"/>
              </a:ext>
            </a:extLst>
          </p:cNvPr>
          <p:cNvSpPr txBox="1"/>
          <p:nvPr/>
        </p:nvSpPr>
        <p:spPr>
          <a:xfrm>
            <a:off x="4136923" y="6234166"/>
            <a:ext cx="3124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* </a:t>
            </a:r>
            <a:r>
              <a:rPr lang="en-US" b="1" dirty="0"/>
              <a:t>MySQL with JPA/Hibernate for company data,applications, approvals and compliance regulatory records.</a:t>
            </a:r>
            <a:endParaRPr lang="en-IN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AB9050-F730-EC58-3825-8718F25ECC5D}"/>
              </a:ext>
            </a:extLst>
          </p:cNvPr>
          <p:cNvSpPr txBox="1"/>
          <p:nvPr/>
        </p:nvSpPr>
        <p:spPr>
          <a:xfrm>
            <a:off x="4197386" y="8039100"/>
            <a:ext cx="2959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* </a:t>
            </a:r>
            <a:r>
              <a:rPr lang="en-US" b="1" dirty="0"/>
              <a:t>JWT for secure, role-based access.</a:t>
            </a:r>
            <a:endParaRPr lang="en-IN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F50B655-767A-A711-FFED-93A808CB79CD}"/>
              </a:ext>
            </a:extLst>
          </p:cNvPr>
          <p:cNvSpPr txBox="1"/>
          <p:nvPr/>
        </p:nvSpPr>
        <p:spPr>
          <a:xfrm>
            <a:off x="7701558" y="4444787"/>
            <a:ext cx="3124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* </a:t>
            </a:r>
            <a:r>
              <a:rPr lang="en-US" b="1" dirty="0"/>
              <a:t>OLLM API and RAG for - document processing,   knowledge base, and   information retrieval.</a:t>
            </a:r>
            <a:endParaRPr lang="en-IN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1CFA25-1381-6952-B740-16369E7154F3}"/>
              </a:ext>
            </a:extLst>
          </p:cNvPr>
          <p:cNvSpPr txBox="1"/>
          <p:nvPr/>
        </p:nvSpPr>
        <p:spPr>
          <a:xfrm>
            <a:off x="7648012" y="6647635"/>
            <a:ext cx="34154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* </a:t>
            </a:r>
            <a:r>
              <a:rPr lang="en-US" b="1" dirty="0"/>
              <a:t>Al features including Regulatory Assistant, Compliance Assistant,          PDF Document Intelligence, Information Extraction, and Document Mismatch Detection.</a:t>
            </a:r>
            <a:endParaRPr lang="en-IN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41388BD-AF3F-2B2F-7361-217FA9ACDB1C}"/>
              </a:ext>
            </a:extLst>
          </p:cNvPr>
          <p:cNvSpPr txBox="1"/>
          <p:nvPr/>
        </p:nvSpPr>
        <p:spPr>
          <a:xfrm>
            <a:off x="11461210" y="4357911"/>
            <a:ext cx="3124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* </a:t>
            </a:r>
            <a:r>
              <a:rPr lang="en-US" b="1" dirty="0"/>
              <a:t>Applications received via company profile are processed through Spring Boot APIs, Rules Engine and regulatory database to identify required approvals, dependencies, compliance requirements and eligible government schemes.</a:t>
            </a:r>
            <a:endParaRPr lang="en-IN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AAD983A-C780-1879-CAFC-DF707E930DC3}"/>
              </a:ext>
            </a:extLst>
          </p:cNvPr>
          <p:cNvSpPr txBox="1"/>
          <p:nvPr/>
        </p:nvSpPr>
        <p:spPr>
          <a:xfrm>
            <a:off x="11585259" y="6933934"/>
            <a:ext cx="28165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* AI/RAG provides source-backed explanations and document intelligence.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381DDEA-82E4-CA36-61EA-5D86F1E79262}"/>
              </a:ext>
            </a:extLst>
          </p:cNvPr>
          <p:cNvSpPr txBox="1"/>
          <p:nvPr/>
        </p:nvSpPr>
        <p:spPr>
          <a:xfrm>
            <a:off x="11432268" y="8024820"/>
            <a:ext cx="30684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* </a:t>
            </a:r>
            <a:r>
              <a:rPr lang="en-US" b="1" dirty="0"/>
              <a:t>End-to-end workflow ensures faster, transparent and traceable clearances.</a:t>
            </a:r>
            <a:endParaRPr lang="en-IN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E4FBC01-2FD2-1908-5E73-63BCC4559562}"/>
              </a:ext>
            </a:extLst>
          </p:cNvPr>
          <p:cNvSpPr txBox="1"/>
          <p:nvPr/>
        </p:nvSpPr>
        <p:spPr>
          <a:xfrm>
            <a:off x="15070794" y="4423877"/>
            <a:ext cx="28049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* </a:t>
            </a:r>
            <a:r>
              <a:rPr lang="en-US" b="1" dirty="0"/>
              <a:t>Cloud deployment with HTTPS and JWT security.</a:t>
            </a:r>
            <a:endParaRPr lang="en-IN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BE9C09-E375-41C2-B026-9A4C10AA0484}"/>
              </a:ext>
            </a:extLst>
          </p:cNvPr>
          <p:cNvSpPr txBox="1"/>
          <p:nvPr/>
        </p:nvSpPr>
        <p:spPr>
          <a:xfrm>
            <a:off x="14879065" y="6038659"/>
            <a:ext cx="3200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* Managed MySQL database.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0EBE096-570D-765A-13F8-BE5CE82F78CB}"/>
              </a:ext>
            </a:extLst>
          </p:cNvPr>
          <p:cNvSpPr txBox="1"/>
          <p:nvPr/>
        </p:nvSpPr>
        <p:spPr>
          <a:xfrm>
            <a:off x="14908014" y="7652905"/>
            <a:ext cx="30684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* REST-based service integration.</a:t>
            </a:r>
          </a:p>
        </p:txBody>
      </p:sp>
      <p:sp>
        <p:nvSpPr>
          <p:cNvPr id="32" name="Arrow: Down 31">
            <a:extLst>
              <a:ext uri="{FF2B5EF4-FFF2-40B4-BE49-F238E27FC236}">
                <a16:creationId xmlns:a16="http://schemas.microsoft.com/office/drawing/2014/main" id="{F77521C2-BB27-188D-A5C2-1FF1CB43FCA9}"/>
              </a:ext>
            </a:extLst>
          </p:cNvPr>
          <p:cNvSpPr/>
          <p:nvPr/>
        </p:nvSpPr>
        <p:spPr>
          <a:xfrm>
            <a:off x="1905504" y="5621901"/>
            <a:ext cx="304800" cy="3619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3" name="Arrow: Down 32">
            <a:extLst>
              <a:ext uri="{FF2B5EF4-FFF2-40B4-BE49-F238E27FC236}">
                <a16:creationId xmlns:a16="http://schemas.microsoft.com/office/drawing/2014/main" id="{78BBEBD0-3C49-008C-DD53-DDD5F13E0E22}"/>
              </a:ext>
            </a:extLst>
          </p:cNvPr>
          <p:cNvSpPr/>
          <p:nvPr/>
        </p:nvSpPr>
        <p:spPr>
          <a:xfrm>
            <a:off x="1905504" y="6587151"/>
            <a:ext cx="304800" cy="39301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B1C01D57-F5AB-8C56-1E50-65A71C5C7868}"/>
              </a:ext>
            </a:extLst>
          </p:cNvPr>
          <p:cNvSpPr/>
          <p:nvPr/>
        </p:nvSpPr>
        <p:spPr>
          <a:xfrm>
            <a:off x="1921426" y="7698787"/>
            <a:ext cx="304800" cy="39301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Arrow: Down 37">
            <a:extLst>
              <a:ext uri="{FF2B5EF4-FFF2-40B4-BE49-F238E27FC236}">
                <a16:creationId xmlns:a16="http://schemas.microsoft.com/office/drawing/2014/main" id="{77E3EA90-3DC5-6693-6B86-AC0616FCC63E}"/>
              </a:ext>
            </a:extLst>
          </p:cNvPr>
          <p:cNvSpPr/>
          <p:nvPr/>
        </p:nvSpPr>
        <p:spPr>
          <a:xfrm>
            <a:off x="5410200" y="5636513"/>
            <a:ext cx="381000" cy="481937"/>
          </a:xfrm>
          <a:prstGeom prst="downArrow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Arrow: Down 39">
            <a:extLst>
              <a:ext uri="{FF2B5EF4-FFF2-40B4-BE49-F238E27FC236}">
                <a16:creationId xmlns:a16="http://schemas.microsoft.com/office/drawing/2014/main" id="{C62972CB-8699-6D82-339E-055506C29CEA}"/>
              </a:ext>
            </a:extLst>
          </p:cNvPr>
          <p:cNvSpPr/>
          <p:nvPr/>
        </p:nvSpPr>
        <p:spPr>
          <a:xfrm>
            <a:off x="5425440" y="7550211"/>
            <a:ext cx="365760" cy="474609"/>
          </a:xfrm>
          <a:prstGeom prst="downArrow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Arrow: Down 40">
            <a:extLst>
              <a:ext uri="{FF2B5EF4-FFF2-40B4-BE49-F238E27FC236}">
                <a16:creationId xmlns:a16="http://schemas.microsoft.com/office/drawing/2014/main" id="{F2E04788-9757-8613-DBD8-5C4AA1A557CA}"/>
              </a:ext>
            </a:extLst>
          </p:cNvPr>
          <p:cNvSpPr/>
          <p:nvPr/>
        </p:nvSpPr>
        <p:spPr>
          <a:xfrm>
            <a:off x="9067800" y="5636513"/>
            <a:ext cx="377099" cy="923330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Arrow: Down 41">
            <a:extLst>
              <a:ext uri="{FF2B5EF4-FFF2-40B4-BE49-F238E27FC236}">
                <a16:creationId xmlns:a16="http://schemas.microsoft.com/office/drawing/2014/main" id="{2BD6F839-8912-47DE-92AB-FBE7769D40CD}"/>
              </a:ext>
            </a:extLst>
          </p:cNvPr>
          <p:cNvSpPr/>
          <p:nvPr/>
        </p:nvSpPr>
        <p:spPr>
          <a:xfrm>
            <a:off x="12996964" y="6606199"/>
            <a:ext cx="207711" cy="393991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Arrow: Down 42">
            <a:extLst>
              <a:ext uri="{FF2B5EF4-FFF2-40B4-BE49-F238E27FC236}">
                <a16:creationId xmlns:a16="http://schemas.microsoft.com/office/drawing/2014/main" id="{902B4C32-A504-31EA-19B1-03690B883508}"/>
              </a:ext>
            </a:extLst>
          </p:cNvPr>
          <p:cNvSpPr/>
          <p:nvPr/>
        </p:nvSpPr>
        <p:spPr>
          <a:xfrm>
            <a:off x="13011911" y="7787515"/>
            <a:ext cx="207711" cy="337448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Arrow: Down 43">
            <a:extLst>
              <a:ext uri="{FF2B5EF4-FFF2-40B4-BE49-F238E27FC236}">
                <a16:creationId xmlns:a16="http://schemas.microsoft.com/office/drawing/2014/main" id="{B9D7A10C-C1AA-CB42-F36A-1115A1F9ABC7}"/>
              </a:ext>
            </a:extLst>
          </p:cNvPr>
          <p:cNvSpPr/>
          <p:nvPr/>
        </p:nvSpPr>
        <p:spPr>
          <a:xfrm>
            <a:off x="16383000" y="5143500"/>
            <a:ext cx="370754" cy="965686"/>
          </a:xfrm>
          <a:prstGeom prst="down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Arrow: Down 45">
            <a:extLst>
              <a:ext uri="{FF2B5EF4-FFF2-40B4-BE49-F238E27FC236}">
                <a16:creationId xmlns:a16="http://schemas.microsoft.com/office/drawing/2014/main" id="{62946825-0E87-9C16-1F5D-119F33E5F8D8}"/>
              </a:ext>
            </a:extLst>
          </p:cNvPr>
          <p:cNvSpPr/>
          <p:nvPr/>
        </p:nvSpPr>
        <p:spPr>
          <a:xfrm>
            <a:off x="16393372" y="6573080"/>
            <a:ext cx="360381" cy="965686"/>
          </a:xfrm>
          <a:prstGeom prst="down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92865" y="94475"/>
            <a:ext cx="16459200" cy="1735931"/>
            <a:chOff x="0" y="-28575"/>
            <a:chExt cx="21945600" cy="23145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115906"/>
            <a:ext cx="1915887" cy="1249101"/>
            <a:chOff x="0" y="0"/>
            <a:chExt cx="2554516" cy="1665468"/>
          </a:xfrm>
        </p:grpSpPr>
        <p:sp>
          <p:nvSpPr>
            <p:cNvPr id="9" name="Freeform 9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CodeXMinds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B860BEE5-293C-A75A-B4F3-D615DD78F6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501306"/>
            <a:ext cx="17663931" cy="86912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59962"/>
              <a:ext cx="21945600" cy="14769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85056" y="48535"/>
            <a:ext cx="2024744" cy="1081042"/>
            <a:chOff x="0" y="0"/>
            <a:chExt cx="2554516" cy="1665468"/>
          </a:xfrm>
        </p:grpSpPr>
        <p:sp>
          <p:nvSpPr>
            <p:cNvPr id="9" name="Freeform 9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CodeXMinds</a:t>
              </a:r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707E975B-D30C-C34F-6ABC-E61017F558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691" y="1160483"/>
            <a:ext cx="16409290" cy="8890823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14650551" y="11439"/>
            <a:ext cx="3374774" cy="1485900"/>
            <a:chOff x="0" y="0"/>
            <a:chExt cx="4499699" cy="212467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9" name="Freeform 9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CodeXMinds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907520" y="2550828"/>
            <a:ext cx="13274466" cy="436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28"/>
              </a:lnSpc>
            </a:pPr>
            <a:endParaRPr/>
          </a:p>
          <a:p>
            <a:pPr marL="886698" lvl="1" indent="-443349" algn="l">
              <a:lnSpc>
                <a:spcPts val="4928"/>
              </a:lnSpc>
              <a:buFont typeface="Arial"/>
              <a:buChar char="•"/>
            </a:pPr>
            <a:r>
              <a:rPr lang="en-US" sz="410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NSWS: </a:t>
            </a:r>
            <a:r>
              <a:rPr lang="en-US" sz="4106" i="1" u="sng">
                <a:solidFill>
                  <a:srgbClr val="38B6FF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nsws.gov.in</a:t>
            </a:r>
          </a:p>
          <a:p>
            <a:pPr marL="886698" lvl="1" indent="-443349" algn="l">
              <a:lnSpc>
                <a:spcPts val="4928"/>
              </a:lnSpc>
              <a:buFont typeface="Arial"/>
              <a:buChar char="•"/>
            </a:pPr>
            <a:r>
              <a:rPr lang="en-US" sz="410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MAITRI: </a:t>
            </a:r>
            <a:r>
              <a:rPr lang="en-US" sz="4106" i="1" u="sng">
                <a:solidFill>
                  <a:srgbClr val="38B6FF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maitri.mahaonline.gov.in</a:t>
            </a:r>
          </a:p>
          <a:p>
            <a:pPr marL="886698" lvl="1" indent="-443349" algn="l">
              <a:lnSpc>
                <a:spcPts val="4928"/>
              </a:lnSpc>
              <a:buFont typeface="Arial"/>
              <a:buChar char="•"/>
            </a:pPr>
            <a:r>
              <a:rPr lang="en-US" sz="410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MIDC: midc.</a:t>
            </a:r>
            <a:r>
              <a:rPr lang="en-US" sz="4106" i="1" u="sng">
                <a:solidFill>
                  <a:srgbClr val="38B6FF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maharashtra.gov.in</a:t>
            </a:r>
          </a:p>
          <a:p>
            <a:pPr marL="886698" lvl="1" indent="-443349" algn="l">
              <a:lnSpc>
                <a:spcPts val="4928"/>
              </a:lnSpc>
              <a:buFont typeface="Arial"/>
              <a:buChar char="•"/>
            </a:pPr>
            <a:r>
              <a:rPr lang="en-US" sz="410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RAG Paper: Lewis et al., 2020</a:t>
            </a:r>
          </a:p>
          <a:p>
            <a:pPr marL="886698" lvl="1" indent="-443349" algn="l">
              <a:lnSpc>
                <a:spcPts val="4928"/>
              </a:lnSpc>
              <a:buFont typeface="Arial"/>
              <a:buChar char="•"/>
            </a:pPr>
            <a:r>
              <a:rPr lang="en-US" sz="410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LayoutLM Paper: Xu et al., 2020</a:t>
            </a:r>
          </a:p>
          <a:p>
            <a:pPr algn="l">
              <a:lnSpc>
                <a:spcPts val="4928"/>
              </a:lnSpc>
            </a:pPr>
            <a:endParaRPr lang="en-US" sz="4106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402</Words>
  <Application>Microsoft Office PowerPoint</Application>
  <PresentationFormat>Custom</PresentationFormat>
  <Paragraphs>79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Bodoni MT</vt:lpstr>
      <vt:lpstr>Calibri (MS)</vt:lpstr>
      <vt:lpstr>Times New Roman Bold</vt:lpstr>
      <vt:lpstr>Arimo Bold</vt:lpstr>
      <vt:lpstr>Arial</vt:lpstr>
      <vt:lpstr>Garamond Bold</vt:lpstr>
      <vt:lpstr>Calibri</vt:lpstr>
      <vt:lpstr>Arimo</vt:lpstr>
      <vt:lpstr>Times New Roman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SIH2026-IDEA-Presentation-Format (1).pptx</dc:title>
  <dc:creator>DEEPAK KUMAR</dc:creator>
  <cp:lastModifiedBy>MD AZHAN SARFARAZ</cp:lastModifiedBy>
  <cp:revision>9</cp:revision>
  <dcterms:created xsi:type="dcterms:W3CDTF">2006-08-16T00:00:00Z</dcterms:created>
  <dcterms:modified xsi:type="dcterms:W3CDTF">2026-08-30T09:44:22Z</dcterms:modified>
  <dc:identifier>DAHTstM9r_k</dc:identifier>
</cp:coreProperties>
</file>